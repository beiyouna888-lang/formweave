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49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tags" Target="../tags/tag46.xml"/><Relationship Id="rId12" Type="http://schemas.openxmlformats.org/officeDocument/2006/relationships/tags" Target="../tags/tag45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tags" Target="../tags/tag3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65.xml"/><Relationship Id="rId15" Type="http://schemas.openxmlformats.org/officeDocument/2006/relationships/tags" Target="../tags/tag64.xml"/><Relationship Id="rId14" Type="http://schemas.openxmlformats.org/officeDocument/2006/relationships/tags" Target="../tags/tag63.xml"/><Relationship Id="rId13" Type="http://schemas.openxmlformats.org/officeDocument/2006/relationships/tags" Target="../tags/tag62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tags" Target="../tags/tag5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08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BFFF"/>
                </a:solidFill>
                <a:latin typeface="微软雅黑" panose="020B0503020204020204" charset="-122"/>
              </a:defRPr>
            </a:pPr>
            <a:r>
              <a:t>FormWeave - 形织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面向工程设计场景的智能设计助手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技术方案 · 商业模式 · 竞品分析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182880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LLM+CAD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4114800"/>
            <a:ext cx="1828800" cy="54864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ML/AI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4114800"/>
            <a:ext cx="1828800" cy="5486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Cloud Native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743200" cy="508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FF"/>
                </a:solidFill>
                <a:latin typeface="微软雅黑" panose="020B0503020204020204" charset="-122"/>
              </a:defRPr>
            </a:pPr>
            <a:r>
              <a:t>背景与</a:t>
            </a:r>
            <a:r>
              <a:rPr>
                <a:sym typeface="+mn-ea"/>
              </a:rPr>
              <a:t>工程</a:t>
            </a:r>
            <a:r>
              <a:rPr lang="zh-CN">
                <a:sym typeface="+mn-ea"/>
              </a:rPr>
              <a:t>现有</a:t>
            </a:r>
            <a:r>
              <a:t>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59840"/>
            <a:ext cx="5782945" cy="43376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>
              <a:spcBef>
                <a:spcPts val="600"/>
              </a:spcBef>
              <a:defRPr sz="170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rPr sz="2000"/>
              <a:t>  • 工程设计重复劳动高：参数调整、标准件选型、图纸标注等占用大量时间</a:t>
            </a:r>
            <a:r>
              <a:rPr lang="en-US" sz="2000"/>
              <a:t> </a:t>
            </a:r>
            <a:endParaRPr lang="en-US" sz="2000"/>
          </a:p>
          <a:p>
            <a:pPr>
              <a:spcBef>
                <a:spcPts val="600"/>
              </a:spcBef>
              <a:defRPr sz="1700">
                <a:solidFill>
                  <a:srgbClr val="EEEEEE"/>
                </a:solidFill>
                <a:latin typeface="微软雅黑" panose="020B0503020204020204" charset="-122"/>
              </a:defRPr>
            </a:pPr>
            <a:endParaRPr sz="2000"/>
          </a:p>
          <a:p>
            <a:pPr>
              <a:spcBef>
                <a:spcPts val="600"/>
              </a:spcBef>
              <a:defRPr sz="170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rPr sz="2000"/>
              <a:t>  • 知识传承困难：资深工程师的个人经验难以沉淀为可复用资产</a:t>
            </a:r>
            <a:endParaRPr sz="2000"/>
          </a:p>
          <a:p>
            <a:pPr>
              <a:spcBef>
                <a:spcPts val="600"/>
              </a:spcBef>
              <a:defRPr sz="1700">
                <a:solidFill>
                  <a:srgbClr val="EEEEEE"/>
                </a:solidFill>
                <a:latin typeface="微软雅黑" panose="020B0503020204020204" charset="-122"/>
              </a:defRPr>
            </a:pPr>
            <a:endParaRPr sz="2000"/>
          </a:p>
          <a:p>
            <a:pPr>
              <a:spcBef>
                <a:spcPts val="600"/>
              </a:spcBef>
              <a:defRPr sz="170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rPr sz="2000"/>
              <a:t>  • 跨工具协作效率低：CAD/CAM/CAE 之间的数据流转仍需人工介入</a:t>
            </a:r>
            <a:endParaRPr sz="2000"/>
          </a:p>
          <a:p>
            <a:pPr>
              <a:spcBef>
                <a:spcPts val="600"/>
              </a:spcBef>
              <a:defRPr sz="1700">
                <a:solidFill>
                  <a:srgbClr val="EEEEEE"/>
                </a:solidFill>
                <a:latin typeface="微软雅黑" panose="020B0503020204020204" charset="-122"/>
              </a:defRPr>
            </a:pPr>
            <a:endParaRPr sz="2000"/>
          </a:p>
          <a:p>
            <a:pPr>
              <a:spcBef>
                <a:spcPts val="600"/>
              </a:spcBef>
              <a:defRPr sz="170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rPr sz="2000"/>
              <a:t>  • 设计决策缺乏数据支撑：选材、拓扑优化依赖经验而不是数据驱动</a:t>
            </a:r>
            <a:endParaRPr sz="2000"/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6858000" y="1371600"/>
            <a:ext cx="4754880" cy="128016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7317740" y="1675130"/>
            <a:ext cx="12141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FF"/>
                </a:solidFill>
                <a:latin typeface="微软雅黑" panose="020B0503020204020204" charset="-122"/>
              </a:defRPr>
            </a:pPr>
            <a:r>
              <a:t>75%</a:t>
            </a: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8961120" y="1600200"/>
            <a:ext cx="237744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rPr sz="1800"/>
              <a:t>工程时间</a:t>
            </a:r>
            <a:br>
              <a:rPr sz="1800"/>
            </a:br>
            <a:r>
              <a:rPr sz="1800"/>
              <a:t>花在重复操作</a:t>
            </a:r>
            <a:endParaRPr sz="1800"/>
          </a:p>
        </p:txBody>
      </p:sp>
      <p:sp>
        <p:nvSpPr>
          <p:cNvPr id="8" name="Rounded Rectangle 7"/>
          <p:cNvSpPr/>
          <p:nvPr>
            <p:custDataLst>
              <p:tags r:id="rId4"/>
            </p:custDataLst>
          </p:nvPr>
        </p:nvSpPr>
        <p:spPr>
          <a:xfrm>
            <a:off x="6858000" y="2926080"/>
            <a:ext cx="4754880" cy="128016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7317740" y="3195320"/>
            <a:ext cx="11918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FF"/>
                </a:solidFill>
                <a:latin typeface="微软雅黑" panose="020B0503020204020204" charset="-122"/>
              </a:defRPr>
            </a:pPr>
            <a:r>
              <a:t>60%</a:t>
            </a:r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8961120" y="3243580"/>
            <a:ext cx="237744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rPr sz="1800"/>
              <a:t>设计错误</a:t>
            </a:r>
            <a:br>
              <a:rPr sz="1800"/>
            </a:br>
            <a:r>
              <a:rPr sz="1800"/>
              <a:t>来自沟通断层</a:t>
            </a:r>
            <a:endParaRPr sz="1800"/>
          </a:p>
        </p:txBody>
      </p:sp>
      <p:sp>
        <p:nvSpPr>
          <p:cNvPr id="11" name="Rounded Rectangle 10"/>
          <p:cNvSpPr/>
          <p:nvPr>
            <p:custDataLst>
              <p:tags r:id="rId7"/>
            </p:custDataLst>
          </p:nvPr>
        </p:nvSpPr>
        <p:spPr>
          <a:xfrm>
            <a:off x="6858000" y="4480560"/>
            <a:ext cx="4754880" cy="128016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7317740" y="4715510"/>
            <a:ext cx="13696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FF"/>
                </a:solidFill>
                <a:latin typeface="微软雅黑" panose="020B0503020204020204" charset="-122"/>
              </a:defRPr>
            </a:pPr>
            <a:r>
              <a:rPr lang="en-US"/>
              <a:t>1.5</a:t>
            </a:r>
            <a:r>
              <a:t>x</a:t>
            </a:r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9005570" y="4715510"/>
            <a:ext cx="164465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rPr sz="1800"/>
              <a:t>AI辅助可提升</a:t>
            </a:r>
            <a:br>
              <a:rPr sz="1800"/>
            </a:br>
            <a:r>
              <a:rPr sz="1800"/>
              <a:t>设计产出效率</a:t>
            </a:r>
            <a:endParaRPr sz="1800"/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743200" cy="508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FF"/>
                </a:solidFill>
                <a:latin typeface="微软雅黑" panose="020B0503020204020204" charset="-122"/>
              </a:defRPr>
            </a:pPr>
            <a:r>
              <a:t>产品定位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882015"/>
          </a:xfrm>
          <a:prstGeom prst="round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72260"/>
            <a:ext cx="105156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rPr sz="2000"/>
              <a:t>愿景：成为工程设计的「副驾驶」——让工程师专注于创造与决策</a:t>
            </a:r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2743200" cy="274320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2743200" cy="508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23774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FFF"/>
                </a:solidFill>
                <a:latin typeface="微软雅黑" panose="020B0503020204020204" charset="-122"/>
              </a:defRPr>
            </a:pPr>
            <a:r>
              <a:t>智能设计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基于自然语言生成</a:t>
            </a:r>
            <a:br/>
            <a:r>
              <a:t>三维模型与工程图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926080"/>
            <a:ext cx="2743200" cy="274320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2926080"/>
            <a:ext cx="27432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200400"/>
            <a:ext cx="23774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知识引擎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9319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私有企业知识库</a:t>
            </a:r>
            <a:br/>
            <a:r>
              <a:t>+ 标准规范库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926080"/>
            <a:ext cx="2743200" cy="274320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926080"/>
            <a:ext cx="27432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200400"/>
            <a:ext cx="23774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C4899"/>
                </a:solidFill>
                <a:latin typeface="微软雅黑" panose="020B0503020204020204" charset="-122"/>
              </a:defRPr>
            </a:pPr>
            <a:r>
              <a:t>全流程协同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9319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CAD → CAE → CAM</a:t>
            </a:r>
            <a:br/>
            <a:r>
              <a:t>数据无缝流转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926080"/>
            <a:ext cx="2743200" cy="274320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2926080"/>
            <a:ext cx="274320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3200400"/>
            <a:ext cx="23774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微软雅黑" panose="020B0503020204020204" charset="-122"/>
              </a:defRPr>
            </a:pPr>
            <a:r>
              <a:t>自动合规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9319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设计即检：自动对齐</a:t>
            </a:r>
            <a:br/>
            <a:r>
              <a:t>行业标准与规范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743200" cy="508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FF"/>
                </a:solidFill>
                <a:latin typeface="微软雅黑" panose="020B0503020204020204" charset="-122"/>
              </a:defRPr>
            </a:pPr>
            <a:r>
              <a:t>技术方案 — 模型架构</a:t>
            </a:r>
          </a:p>
        </p:txBody>
      </p:sp>
      <p:sp>
        <p:nvSpPr>
          <p:cNvPr id="4" name="Rounded Rectangle 3"/>
          <p:cNvSpPr/>
          <p:nvPr>
            <p:custDataLst>
              <p:tags r:id="rId1"/>
            </p:custDataLst>
          </p:nvPr>
        </p:nvSpPr>
        <p:spPr>
          <a:xfrm>
            <a:off x="457200" y="1371600"/>
            <a:ext cx="1828800" cy="640080"/>
          </a:xfrm>
          <a:prstGeom prst="round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用户输入层</a:t>
            </a: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560320" y="1417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自然语言 / 草图 / 参考模型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1828800" y="1828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7" name="Rounded Rectangle 6"/>
          <p:cNvSpPr/>
          <p:nvPr>
            <p:custDataLst>
              <p:tags r:id="rId4"/>
            </p:custDataLst>
          </p:nvPr>
        </p:nvSpPr>
        <p:spPr>
          <a:xfrm>
            <a:off x="457200" y="2377440"/>
            <a:ext cx="182880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意图理解层</a:t>
            </a: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2560320" y="24231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LLM 解析 → 设计意图树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1828800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>
            <p:custDataLst>
              <p:tags r:id="rId7"/>
            </p:custDataLst>
          </p:nvPr>
        </p:nvSpPr>
        <p:spPr>
          <a:xfrm>
            <a:off x="457200" y="3383280"/>
            <a:ext cx="1828800" cy="6400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几何推理层</a:t>
            </a: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2560320" y="3429000"/>
            <a:ext cx="4572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参数化特征 → B-Rep</a:t>
            </a:r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1828800" y="3840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>
            <p:custDataLst>
              <p:tags r:id="rId10"/>
            </p:custDataLst>
          </p:nvPr>
        </p:nvSpPr>
        <p:spPr>
          <a:xfrm>
            <a:off x="457200" y="4389120"/>
            <a:ext cx="1828800" cy="6400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约束求解层</a:t>
            </a:r>
          </a:p>
        </p:txBody>
      </p:sp>
      <p:sp>
        <p:nvSpPr>
          <p:cNvPr id="14" name="TextBox 13"/>
          <p:cNvSpPr txBox="1"/>
          <p:nvPr>
            <p:custDataLst>
              <p:tags r:id="rId11"/>
            </p:custDataLst>
          </p:nvPr>
        </p:nvSpPr>
        <p:spPr>
          <a:xfrm>
            <a:off x="2560320" y="4434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几何约束 + 工程规则 → 合法解空间</a:t>
            </a:r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1828800" y="4846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94960"/>
            <a:ext cx="18288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渲染输出层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440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三维模型 / 工程图 / STEP / IGES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371600"/>
            <a:ext cx="3931920" cy="457200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FFF"/>
                </a:solidFill>
                <a:latin typeface="微软雅黑" panose="020B0503020204020204" charset="-122"/>
              </a:defRPr>
            </a:pPr>
            <a:r>
              <a:t>核心技术栈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011680"/>
            <a:ext cx="3474720" cy="3707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30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rPr sz="1400"/>
              <a:t>  • 基座模型：Llama / Qwen 系列微调</a:t>
            </a:r>
            <a:endParaRPr sz="1400"/>
          </a:p>
          <a:p>
            <a:pPr>
              <a:spcBef>
                <a:spcPts val="600"/>
              </a:spcBef>
              <a:defRPr sz="130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rPr sz="1400"/>
              <a:t>  • 3D Backbone：PointNet++ 变体</a:t>
            </a:r>
            <a:endParaRPr sz="1400"/>
          </a:p>
          <a:p>
            <a:pPr>
              <a:spcBef>
                <a:spcPts val="600"/>
              </a:spcBef>
              <a:defRPr sz="130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rPr sz="1400"/>
              <a:t>  • 参数化引擎：开放内核 (OCCT)</a:t>
            </a:r>
            <a:endParaRPr sz="1400"/>
          </a:p>
          <a:p>
            <a:pPr>
              <a:spcBef>
                <a:spcPts val="600"/>
              </a:spcBef>
              <a:defRPr sz="130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rPr sz="1400"/>
              <a:t>  • 约束求解：Z3 + 自定义规则引擎</a:t>
            </a:r>
            <a:endParaRPr sz="1400"/>
          </a:p>
          <a:p>
            <a:pPr>
              <a:spcBef>
                <a:spcPts val="600"/>
              </a:spcBef>
              <a:defRPr sz="130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rPr sz="1400"/>
              <a:t>  • 输出适配：Autodesk / SolidWorks / FreeCAD API</a:t>
            </a:r>
            <a:endParaRPr sz="1400"/>
          </a:p>
          <a:p>
            <a:pPr>
              <a:spcBef>
                <a:spcPts val="600"/>
              </a:spcBef>
              <a:defRPr sz="130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  </a:t>
            </a:r>
          </a:p>
          <a:p>
            <a:pPr>
              <a:spcBef>
                <a:spcPts val="600"/>
              </a:spcBef>
              <a:defRPr sz="130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rPr sz="1400"/>
              <a:t>  训练数据策略：</a:t>
            </a:r>
            <a:endParaRPr sz="1400"/>
          </a:p>
          <a:p>
            <a:pPr>
              <a:spcBef>
                <a:spcPts val="600"/>
              </a:spcBef>
              <a:defRPr sz="130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rPr sz="1400"/>
              <a:t>  • 公开数据集 (ABC / ModelNet / ShapeNet)</a:t>
            </a:r>
            <a:endParaRPr sz="1400"/>
          </a:p>
          <a:p>
            <a:pPr>
              <a:spcBef>
                <a:spcPts val="600"/>
              </a:spcBef>
              <a:defRPr sz="130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rPr sz="1400"/>
              <a:t>  • 合作企业内部图纸脱敏训练</a:t>
            </a:r>
            <a:endParaRPr sz="1400"/>
          </a:p>
          <a:p>
            <a:pPr>
              <a:spcBef>
                <a:spcPts val="600"/>
              </a:spcBef>
              <a:defRPr sz="130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rPr sz="1400"/>
              <a:t>  • 强化学习 (RLHF) 对齐工程设计规范</a:t>
            </a:r>
            <a:endParaRPr sz="1400"/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743200" cy="508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FF"/>
                </a:solidFill>
                <a:latin typeface="微软雅黑" panose="020B0503020204020204" charset="-122"/>
              </a:defRPr>
            </a:pPr>
            <a:r>
              <a:t>关键能力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19456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508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FFF"/>
                </a:solidFill>
                <a:latin typeface="微软雅黑" panose="020B0503020204020204" charset="-122"/>
              </a:defRPr>
            </a:pPr>
            <a:r>
              <a:t>🗣️ 语言驱动建模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“生成一个M6螺栓，长度40mm”</a:t>
            </a:r>
            <a:br/>
            <a:r>
              <a:t>→ 自动生成含螺纹的完整模型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219456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📐 智能布局优化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给定空间约束和功能需求</a:t>
            </a:r>
            <a:br/>
            <a:r>
              <a:t>自动生成最优布局方案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5486400" cy="219456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54864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C4899"/>
                </a:solidFill>
                <a:latin typeface="微软雅黑" panose="020B0503020204020204" charset="-122"/>
              </a:defRPr>
            </a:pPr>
            <a:r>
              <a:t>🔄 参数化族管理与知识沉淀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几何级：识别零件族→抽取参数模板→一键变体</a:t>
            </a:r>
            <a:br/>
            <a:r>
              <a:t>知识级：提取设计规则→构建知识图谱→自动推荐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486400" cy="219456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548640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微软雅黑" panose="020B0503020204020204" charset="-122"/>
              </a:defRPr>
            </a:pPr>
            <a:r>
              <a:t>🔍 设计审查助手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6634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自动检测壁厚/干涉/不合规</a:t>
            </a:r>
            <a:br/>
            <a:r>
              <a:t>→ 高亮标注 + 修改建议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743200" cy="508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FF"/>
                </a:solidFill>
                <a:latin typeface="微软雅黑" panose="020B0503020204020204" charset="-122"/>
              </a:defRPr>
            </a:pPr>
            <a:r>
              <a:t>工作流程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371600"/>
            <a:ext cx="640080" cy="64008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EEEEE"/>
                </a:solidFill>
                <a:latin typeface="Arial" panose="020B0604020202020204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194560" cy="292608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FFF"/>
                </a:solidFill>
                <a:latin typeface="微软雅黑" panose="020B0503020204020204" charset="-122"/>
              </a:defRPr>
            </a:pPr>
            <a:r>
              <a:t>输入需求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自然语言描述</a:t>
            </a:r>
            <a:br/>
            <a:r>
              <a:t>或参考图纸上传</a:t>
            </a:r>
          </a:p>
        </p:txBody>
      </p:sp>
      <p:sp>
        <p:nvSpPr>
          <p:cNvPr id="8" name="Oval 7"/>
          <p:cNvSpPr/>
          <p:nvPr/>
        </p:nvSpPr>
        <p:spPr>
          <a:xfrm>
            <a:off x="3429000" y="137160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EEEEE"/>
                </a:solidFill>
                <a:latin typeface="Arial" panose="020B0604020202020204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286000"/>
            <a:ext cx="2194560" cy="292608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AI 推理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1089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LLM 解析意图</a:t>
            </a:r>
            <a:br/>
            <a:r>
              <a:t>→ 几何推理 → 约束求解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0" y="1371600"/>
            <a:ext cx="640080" cy="6400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EEEEE"/>
                </a:solidFill>
                <a:latin typeface="Arial" panose="020B0604020202020204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286000"/>
            <a:ext cx="2194560" cy="292608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C4899"/>
                </a:solidFill>
                <a:latin typeface="微软雅黑" panose="020B0503020204020204" charset="-122"/>
              </a:defRPr>
            </a:pPr>
            <a:r>
              <a:t>模型生成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31089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生成三维模型</a:t>
            </a:r>
            <a:br/>
            <a:r>
              <a:t>及工程图</a:t>
            </a:r>
          </a:p>
        </p:txBody>
      </p:sp>
      <p:sp>
        <p:nvSpPr>
          <p:cNvPr id="16" name="Oval 15"/>
          <p:cNvSpPr/>
          <p:nvPr/>
        </p:nvSpPr>
        <p:spPr>
          <a:xfrm>
            <a:off x="8092439" y="1371600"/>
            <a:ext cx="640080" cy="6400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EEEEE"/>
                </a:solidFill>
                <a:latin typeface="Arial" panose="020B0604020202020204"/>
              </a:defRPr>
            </a:pPr>
            <a: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59" y="2286000"/>
            <a:ext cx="2194560" cy="292608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微软雅黑" panose="020B0503020204020204" charset="-122"/>
              </a:defRPr>
            </a:pPr>
            <a:r>
              <a:t>人工审核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31089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工程师审查调整</a:t>
            </a:r>
            <a:br/>
            <a:r>
              <a:t>→ 反馈 → AI 学习</a:t>
            </a:r>
          </a:p>
        </p:txBody>
      </p:sp>
      <p:sp>
        <p:nvSpPr>
          <p:cNvPr id="20" name="Oval 19"/>
          <p:cNvSpPr/>
          <p:nvPr/>
        </p:nvSpPr>
        <p:spPr>
          <a:xfrm>
            <a:off x="10424160" y="137160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EEEEE"/>
                </a:solidFill>
                <a:latin typeface="Arial" panose="020B0604020202020204"/>
              </a:defRPr>
            </a:pPr>
            <a: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2286000"/>
            <a:ext cx="2194560" cy="292608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导出 &amp; 归档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31089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STEP / IGES / DWG</a:t>
            </a:r>
            <a:br/>
            <a:r>
              <a:t>自动录入 PLM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486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↺  人机闭环：每次人工反馈 → 模型持续优化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743200" cy="508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FF"/>
                </a:solidFill>
                <a:latin typeface="微软雅黑" panose="020B0503020204020204" charset="-122"/>
              </a:defRPr>
            </a:pPr>
            <a:r>
              <a:t>商业模式</a:t>
            </a:r>
          </a:p>
        </p:txBody>
      </p:sp>
      <p:sp>
        <p:nvSpPr>
          <p:cNvPr id="4" name="Rounded Rectangle 3"/>
          <p:cNvSpPr/>
          <p:nvPr>
            <p:custDataLst>
              <p:tags r:id="rId1"/>
            </p:custDataLst>
          </p:nvPr>
        </p:nvSpPr>
        <p:spPr>
          <a:xfrm>
            <a:off x="457200" y="1371600"/>
            <a:ext cx="2743200" cy="411480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>
            <p:custDataLst>
              <p:tags r:id="rId2"/>
            </p:custDataLst>
          </p:nvPr>
        </p:nvSpPr>
        <p:spPr>
          <a:xfrm>
            <a:off x="457200" y="1371600"/>
            <a:ext cx="2743200" cy="508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68170"/>
            <a:ext cx="23774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FFF"/>
                </a:solidFill>
                <a:latin typeface="微软雅黑" panose="020B0503020204020204" charset="-122"/>
              </a:defRPr>
            </a:pPr>
            <a:r>
              <a:t>SaaS 订阅</a:t>
            </a: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640080" y="2926080"/>
            <a:ext cx="23774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按席位/月付费</a:t>
            </a:r>
            <a:br/>
            <a:r>
              <a:t>含基础模型 + 标准知识库</a:t>
            </a:r>
          </a:p>
        </p:txBody>
      </p:sp>
      <p:sp>
        <p:nvSpPr>
          <p:cNvPr id="8" name="Rounded Rectangle 7"/>
          <p:cNvSpPr/>
          <p:nvPr>
            <p:custDataLst>
              <p:tags r:id="rId4"/>
            </p:custDataLst>
          </p:nvPr>
        </p:nvSpPr>
        <p:spPr>
          <a:xfrm>
            <a:off x="3383280" y="1371600"/>
            <a:ext cx="2743200" cy="411480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5"/>
            </p:custDataLst>
          </p:nvPr>
        </p:nvSpPr>
        <p:spPr>
          <a:xfrm>
            <a:off x="3383280" y="1371600"/>
            <a:ext cx="27432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8540" y="1868170"/>
            <a:ext cx="254190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Enterprise私有化部署</a:t>
            </a: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356616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本地部署 + 企业知识库定制</a:t>
            </a:r>
            <a:br/>
            <a:r>
              <a:t>+ 专属模型微调</a:t>
            </a:r>
            <a:br/>
            <a:r>
              <a:t>年付合同</a:t>
            </a: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6309360" y="1371600"/>
            <a:ext cx="2743200" cy="411480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8"/>
            </p:custDataLst>
          </p:nvPr>
        </p:nvSpPr>
        <p:spPr>
          <a:xfrm>
            <a:off x="6309360" y="1371600"/>
            <a:ext cx="27432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68170"/>
            <a:ext cx="23774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C4899"/>
                </a:solidFill>
                <a:latin typeface="微软雅黑" panose="020B0503020204020204" charset="-122"/>
              </a:defRPr>
            </a:pPr>
            <a:r>
              <a:t>定制开发&amp; 集成</a:t>
            </a: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649224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与现有 PLM/PDM 系统集成</a:t>
            </a:r>
            <a:br/>
            <a:r>
              <a:t>自定义工作流插件</a:t>
            </a:r>
            <a:br/>
            <a:r>
              <a:t>按项目收费</a:t>
            </a:r>
          </a:p>
        </p:txBody>
      </p:sp>
      <p:sp>
        <p:nvSpPr>
          <p:cNvPr id="16" name="Rounded Rectangle 15"/>
          <p:cNvSpPr/>
          <p:nvPr>
            <p:custDataLst>
              <p:tags r:id="rId10"/>
            </p:custDataLst>
          </p:nvPr>
        </p:nvSpPr>
        <p:spPr>
          <a:xfrm>
            <a:off x="9235440" y="1371600"/>
            <a:ext cx="2743200" cy="411480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11"/>
            </p:custDataLst>
          </p:nvPr>
        </p:nvSpPr>
        <p:spPr>
          <a:xfrm>
            <a:off x="9235440" y="1371600"/>
            <a:ext cx="274320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868170"/>
            <a:ext cx="23774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微软雅黑" panose="020B0503020204020204" charset="-122"/>
              </a:defRPr>
            </a:pPr>
            <a:r>
              <a:t>培训 &amp;生态建设</a:t>
            </a: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941832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工程师 AI 认证培训</a:t>
            </a:r>
            <a:br/>
            <a:r>
              <a:t>二次开发 SDK 授权</a:t>
            </a:r>
            <a:br/>
            <a:r>
              <a:t>社区版增值服务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760720"/>
            <a:ext cx="11247120" cy="731520"/>
          </a:xfrm>
          <a:prstGeom prst="round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目标客户：中小型设计院  |  制造企业研发部门  |  高校工程实验室  |  独立设计师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743200" cy="508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FF"/>
                </a:solidFill>
                <a:latin typeface="微软雅黑" panose="020B0503020204020204" charset="-122"/>
              </a:defRPr>
            </a:pPr>
            <a:r>
              <a:t>竞品分析</a:t>
            </a:r>
          </a:p>
        </p:txBody>
      </p:sp>
      <p:sp>
        <p:nvSpPr>
          <p:cNvPr id="4" name="Rounded Rectangle 3"/>
          <p:cNvSpPr/>
          <p:nvPr>
            <p:custDataLst>
              <p:tags r:id="rId1"/>
            </p:custDataLst>
          </p:nvPr>
        </p:nvSpPr>
        <p:spPr>
          <a:xfrm>
            <a:off x="457200" y="1371600"/>
            <a:ext cx="2743200" cy="457200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>
            <p:custDataLst>
              <p:tags r:id="rId2"/>
            </p:custDataLst>
          </p:nvPr>
        </p:nvSpPr>
        <p:spPr>
          <a:xfrm>
            <a:off x="457200" y="1371600"/>
            <a:ext cx="2743200" cy="508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640080" y="1554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FFF"/>
                </a:solidFill>
                <a:latin typeface="微软雅黑" panose="020B0503020204020204" charset="-122"/>
              </a:defRPr>
            </a:pPr>
            <a:r>
              <a:t>Autodesk</a:t>
            </a:r>
            <a:br/>
            <a:r>
              <a:t>Fusion AI</a:t>
            </a: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731520" y="2468880"/>
            <a:ext cx="219456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rPr sz="1600"/>
              <a:t>✅ 品牌/生态强</a:t>
            </a:r>
            <a:br>
              <a:rPr sz="1600"/>
            </a:br>
            <a:r>
              <a:rPr sz="1600"/>
              <a:t>⚠️ 仅限自家平台</a:t>
            </a:r>
            <a:br>
              <a:rPr sz="1600"/>
            </a:br>
            <a:r>
              <a:rPr sz="1600"/>
              <a:t>❌ 不开源/不灵活</a:t>
            </a:r>
            <a:endParaRPr sz="1600"/>
          </a:p>
        </p:txBody>
      </p:sp>
      <p:sp>
        <p:nvSpPr>
          <p:cNvPr id="8" name="Rounded Rectangle 7"/>
          <p:cNvSpPr/>
          <p:nvPr>
            <p:custDataLst>
              <p:tags r:id="rId5"/>
            </p:custDataLst>
          </p:nvPr>
        </p:nvSpPr>
        <p:spPr>
          <a:xfrm>
            <a:off x="3291840" y="1371600"/>
            <a:ext cx="2743200" cy="457200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6"/>
            </p:custDataLst>
          </p:nvPr>
        </p:nvSpPr>
        <p:spPr>
          <a:xfrm>
            <a:off x="3291840" y="1371600"/>
            <a:ext cx="27432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7"/>
            </p:custDataLst>
          </p:nvPr>
        </p:nvSpPr>
        <p:spPr>
          <a:xfrm>
            <a:off x="3474720" y="1554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Siemens</a:t>
            </a:r>
            <a:br/>
            <a:r>
              <a:t>NX AI</a:t>
            </a: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3629025" y="2468880"/>
            <a:ext cx="188404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rPr sz="1600"/>
              <a:t>✅ 工业4.0背书</a:t>
            </a:r>
            <a:br>
              <a:rPr sz="1600"/>
            </a:br>
            <a:r>
              <a:rPr sz="1600"/>
              <a:t>⚠️ 成本极高</a:t>
            </a:r>
            <a:br>
              <a:rPr sz="1600"/>
            </a:br>
            <a:r>
              <a:rPr sz="1600"/>
              <a:t>❌ 部署周期长</a:t>
            </a:r>
            <a:endParaRPr sz="1600"/>
          </a:p>
        </p:txBody>
      </p:sp>
      <p:sp>
        <p:nvSpPr>
          <p:cNvPr id="12" name="Rounded Rectangle 11"/>
          <p:cNvSpPr/>
          <p:nvPr>
            <p:custDataLst>
              <p:tags r:id="rId9"/>
            </p:custDataLst>
          </p:nvPr>
        </p:nvSpPr>
        <p:spPr>
          <a:xfrm>
            <a:off x="6126480" y="1371600"/>
            <a:ext cx="2743200" cy="457200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10"/>
            </p:custDataLst>
          </p:nvPr>
        </p:nvSpPr>
        <p:spPr>
          <a:xfrm>
            <a:off x="6126480" y="1371600"/>
            <a:ext cx="27432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11"/>
            </p:custDataLst>
          </p:nvPr>
        </p:nvSpPr>
        <p:spPr>
          <a:xfrm>
            <a:off x="6309360" y="1554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C4899"/>
                </a:solidFill>
                <a:latin typeface="微软雅黑" panose="020B0503020204020204" charset="-122"/>
              </a:defRPr>
            </a:pPr>
            <a:r>
              <a:t>OnShape</a:t>
            </a:r>
            <a:br/>
            <a:r>
              <a:t>FeatureScript</a:t>
            </a:r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6582410" y="2468880"/>
            <a:ext cx="183197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rPr sz="1600"/>
              <a:t>✅ SaaS原生</a:t>
            </a:r>
            <a:br>
              <a:rPr sz="1600"/>
            </a:br>
            <a:r>
              <a:rPr sz="1600"/>
              <a:t>⚠️ 脚本门槛高</a:t>
            </a:r>
            <a:br>
              <a:rPr sz="1600"/>
            </a:br>
            <a:r>
              <a:rPr sz="1600"/>
              <a:t>❌ 不是AI驱动</a:t>
            </a:r>
            <a:endParaRPr sz="1600"/>
          </a:p>
        </p:txBody>
      </p:sp>
      <p:sp>
        <p:nvSpPr>
          <p:cNvPr id="16" name="Rounded Rectangle 15"/>
          <p:cNvSpPr/>
          <p:nvPr>
            <p:custDataLst>
              <p:tags r:id="rId13"/>
            </p:custDataLst>
          </p:nvPr>
        </p:nvSpPr>
        <p:spPr>
          <a:xfrm>
            <a:off x="8961120" y="1371600"/>
            <a:ext cx="2743200" cy="457200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14"/>
            </p:custDataLst>
          </p:nvPr>
        </p:nvSpPr>
        <p:spPr>
          <a:xfrm>
            <a:off x="8961120" y="1371600"/>
            <a:ext cx="27432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5"/>
            </p:custDataLst>
          </p:nvPr>
        </p:nvSpPr>
        <p:spPr>
          <a:xfrm>
            <a:off x="9144000" y="1554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我们的优势</a:t>
            </a:r>
          </a:p>
        </p:txBody>
      </p:sp>
      <p:sp>
        <p:nvSpPr>
          <p:cNvPr id="19" name="TextBox 18"/>
          <p:cNvSpPr txBox="1"/>
          <p:nvPr>
            <p:custDataLst>
              <p:tags r:id="rId16"/>
            </p:custDataLst>
          </p:nvPr>
        </p:nvSpPr>
        <p:spPr>
          <a:xfrm>
            <a:off x="9293225" y="2418080"/>
            <a:ext cx="2078355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rPr sz="1600"/>
              <a:t>✅ 开源底层 + LLM</a:t>
            </a:r>
            <a:br>
              <a:rPr sz="1600"/>
            </a:br>
            <a:r>
              <a:rPr sz="1600"/>
              <a:t>✅ 多CAD平台适配</a:t>
            </a:r>
            <a:br>
              <a:rPr sz="1600"/>
            </a:br>
            <a:r>
              <a:rPr sz="1600"/>
              <a:t>✅ 私有化+知识库</a:t>
            </a:r>
            <a:br>
              <a:rPr sz="1600"/>
            </a:br>
            <a:r>
              <a:rPr sz="1600"/>
              <a:t>✅ 人机反馈闭环</a:t>
            </a:r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743200" cy="508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FF"/>
                </a:solidFill>
                <a:latin typeface="微软雅黑" panose="020B0503020204020204" charset="-122"/>
              </a:defRPr>
            </a:pPr>
            <a:r>
              <a:t>路线图</a:t>
            </a:r>
          </a:p>
        </p:txBody>
      </p:sp>
      <p:sp>
        <p:nvSpPr>
          <p:cNvPr id="4" name="Oval 3"/>
          <p:cNvSpPr/>
          <p:nvPr>
            <p:custDataLst>
              <p:tags r:id="rId1"/>
            </p:custDataLst>
          </p:nvPr>
        </p:nvSpPr>
        <p:spPr>
          <a:xfrm>
            <a:off x="731520" y="1463040"/>
            <a:ext cx="274320" cy="27432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>
            <p:custDataLst>
              <p:tags r:id="rId2"/>
            </p:custDataLst>
          </p:nvPr>
        </p:nvSpPr>
        <p:spPr>
          <a:xfrm>
            <a:off x="850392" y="1737360"/>
            <a:ext cx="38100" cy="64008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153160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FFF"/>
                </a:solidFill>
                <a:latin typeface="微软雅黑" panose="020B0503020204020204" charset="-122"/>
              </a:defRPr>
            </a:pPr>
            <a:r>
              <a:t>MVP</a:t>
            </a: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2359025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基本语言→建模功能</a:t>
            </a:r>
            <a:br/>
            <a:r>
              <a:t>支持 FreeCAD / STEP 导出</a:t>
            </a:r>
            <a:br/>
            <a:r>
              <a:t>单一零件生成</a:t>
            </a:r>
          </a:p>
        </p:txBody>
      </p:sp>
      <p:sp>
        <p:nvSpPr>
          <p:cNvPr id="9" name="Oval 8"/>
          <p:cNvSpPr/>
          <p:nvPr>
            <p:custDataLst>
              <p:tags r:id="rId5"/>
            </p:custDataLst>
          </p:nvPr>
        </p:nvSpPr>
        <p:spPr>
          <a:xfrm>
            <a:off x="731520" y="2468880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6"/>
            </p:custDataLst>
          </p:nvPr>
        </p:nvSpPr>
        <p:spPr>
          <a:xfrm>
            <a:off x="850392" y="2743200"/>
            <a:ext cx="3810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115316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Alpha</a:t>
            </a: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2359025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支持装配体</a:t>
            </a:r>
            <a:br/>
            <a:r>
              <a:t>企业知识库接入</a:t>
            </a:r>
            <a:br/>
            <a:r>
              <a:t>基础约束求解</a:t>
            </a:r>
          </a:p>
        </p:txBody>
      </p:sp>
      <p:sp>
        <p:nvSpPr>
          <p:cNvPr id="14" name="Oval 13"/>
          <p:cNvSpPr/>
          <p:nvPr>
            <p:custDataLst>
              <p:tags r:id="rId9"/>
            </p:custDataLst>
          </p:nvPr>
        </p:nvSpPr>
        <p:spPr>
          <a:xfrm>
            <a:off x="731520" y="3474720"/>
            <a:ext cx="274320" cy="2743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10"/>
            </p:custDataLst>
          </p:nvPr>
        </p:nvSpPr>
        <p:spPr>
          <a:xfrm>
            <a:off x="850392" y="3749040"/>
            <a:ext cx="38100" cy="6400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115316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4899"/>
                </a:solidFill>
                <a:latin typeface="微软雅黑" panose="020B0503020204020204" charset="-122"/>
              </a:defRPr>
            </a:pPr>
            <a:r>
              <a:t>Beta</a:t>
            </a: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2359025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设计审查助手</a:t>
            </a:r>
            <a:br/>
            <a:r>
              <a:t>多CAD平台集成</a:t>
            </a:r>
            <a:br/>
            <a:r>
              <a:t>3家合作企业内测</a:t>
            </a:r>
          </a:p>
        </p:txBody>
      </p:sp>
      <p:sp>
        <p:nvSpPr>
          <p:cNvPr id="19" name="Oval 18"/>
          <p:cNvSpPr/>
          <p:nvPr>
            <p:custDataLst>
              <p:tags r:id="rId13"/>
            </p:custDataLst>
          </p:nvPr>
        </p:nvSpPr>
        <p:spPr>
          <a:xfrm>
            <a:off x="731520" y="4480560"/>
            <a:ext cx="274320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>
            <p:custDataLst>
              <p:tags r:id="rId14"/>
            </p:custDataLst>
          </p:nvPr>
        </p:nvSpPr>
        <p:spPr>
          <a:xfrm>
            <a:off x="850392" y="4754880"/>
            <a:ext cx="38100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1153160" y="4480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微软雅黑" panose="020B0503020204020204" charset="-122"/>
              </a:defRPr>
            </a:pPr>
            <a:r>
              <a:t>v1.0</a:t>
            </a:r>
          </a:p>
        </p:txBody>
      </p:sp>
      <p:sp>
        <p:nvSpPr>
          <p:cNvPr id="23" name="TextBox 22"/>
          <p:cNvSpPr txBox="1"/>
          <p:nvPr>
            <p:custDataLst>
              <p:tags r:id="rId16"/>
            </p:custDataLst>
          </p:nvPr>
        </p:nvSpPr>
        <p:spPr>
          <a:xfrm>
            <a:off x="2359025" y="4480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全流程闭环</a:t>
            </a:r>
            <a:br/>
            <a:r>
              <a:t>SaaS + 私有化双模式</a:t>
            </a:r>
            <a:br/>
            <a:r>
              <a:t>社区版开源发布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48640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5316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迭代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9025" y="5394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CAE 初步集成</a:t>
            </a:r>
            <a:br/>
            <a:r>
              <a:t>多模态(草图→模型)</a:t>
            </a:r>
            <a:br/>
            <a:r>
              <a:t>行业认证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743200" cy="508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FFF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3553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以 LLM 为核心的 FormWeave，让设计回归创造力</a:t>
            </a:r>
          </a:p>
          <a:p>
            <a:pPr>
              <a:spcBef>
                <a:spcPts val="600"/>
              </a:spcBef>
              <a:defRPr sz="1800">
                <a:solidFill>
                  <a:srgbClr val="EEEEEE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打通 CAD → CAE → CAM 全链路，消除数据孤岛</a:t>
            </a:r>
          </a:p>
          <a:p>
            <a:pPr>
              <a:spcBef>
                <a:spcPts val="600"/>
              </a:spcBef>
              <a:defRPr sz="1800">
                <a:solidFill>
                  <a:srgbClr val="EEEEEE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企业级私有化部署 + 知识库，保障数据安全</a:t>
            </a:r>
          </a:p>
          <a:p>
            <a:pPr>
              <a:spcBef>
                <a:spcPts val="600"/>
              </a:spcBef>
              <a:defRPr sz="1800">
                <a:solidFill>
                  <a:srgbClr val="EEEEEE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人机反馈闭环，模型持续进化</a:t>
            </a:r>
          </a:p>
          <a:p>
            <a:pPr>
              <a:spcBef>
                <a:spcPts val="600"/>
              </a:spcBef>
              <a:defRPr sz="1800">
                <a:solidFill>
                  <a:srgbClr val="EEEEEE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开源社区开放底层，构建生态护城河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371600"/>
            <a:ext cx="4389120" cy="4572000"/>
          </a:xfrm>
          <a:prstGeom prst="roundRect">
            <a:avLst/>
          </a:prstGeom>
          <a:solidFill>
            <a:srgbClr val="2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0" y="1371600"/>
            <a:ext cx="4389120" cy="508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6459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FFF"/>
                </a:solidFill>
                <a:latin typeface="微软雅黑" panose="020B0503020204020204" charset="-122"/>
              </a:defRPr>
            </a:pPr>
            <a:r>
              <a:t>下一阶段讨论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37744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50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  1. 验证目标市场优先级</a:t>
            </a:r>
          </a:p>
          <a:p>
            <a:pPr>
              <a:spcBef>
                <a:spcPts val="600"/>
              </a:spcBef>
              <a:defRPr sz="150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  2. 确定 MVP 功能范围</a:t>
            </a:r>
          </a:p>
          <a:p>
            <a:pPr>
              <a:spcBef>
                <a:spcPts val="600"/>
              </a:spcBef>
              <a:defRPr sz="150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  3. 评估团队缺口与招聘</a:t>
            </a:r>
          </a:p>
          <a:p>
            <a:pPr>
              <a:spcBef>
                <a:spcPts val="600"/>
              </a:spcBef>
              <a:defRPr sz="150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  4. 联系 3-5 家潜在内测客户</a:t>
            </a:r>
          </a:p>
          <a:p>
            <a:pPr>
              <a:spcBef>
                <a:spcPts val="600"/>
              </a:spcBef>
              <a:defRPr sz="150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  5. 确定融资/预算方案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AA"/>
                </a:solidFill>
                <a:latin typeface="微软雅黑" panose="020B0503020204020204" charset="-122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7.7,&quot;left&quot;:540,&quot;top&quot;:108,&quot;width&quot;:374.4}"/>
</p:tagLst>
</file>

<file path=ppt/tags/tag2.xml><?xml version="1.0" encoding="utf-8"?>
<p:tagLst xmlns:p="http://schemas.openxmlformats.org/presentationml/2006/main">
  <p:tag name="KSO_WM_DIAGRAM_VIRTUALLY_FRAME" val="{&quot;height&quot;:357.7,&quot;left&quot;:540,&quot;top&quot;:108,&quot;width&quot;:374.4}"/>
</p:tagLst>
</file>

<file path=ppt/tags/tag3.xml><?xml version="1.0" encoding="utf-8"?>
<p:tagLst xmlns:p="http://schemas.openxmlformats.org/presentationml/2006/main">
  <p:tag name="KSO_WM_DIAGRAM_VIRTUALLY_FRAME" val="{&quot;height&quot;:357.7,&quot;left&quot;:540,&quot;top&quot;:108,&quot;width&quot;:374.4}"/>
</p:tagLst>
</file>

<file path=ppt/tags/tag4.xml><?xml version="1.0" encoding="utf-8"?>
<p:tagLst xmlns:p="http://schemas.openxmlformats.org/presentationml/2006/main">
  <p:tag name="KSO_WM_DIAGRAM_VIRTUALLY_FRAME" val="{&quot;height&quot;:357.7,&quot;left&quot;:540,&quot;top&quot;:108,&quot;width&quot;:374.4}"/>
</p:tagLst>
</file>

<file path=ppt/tags/tag5.xml><?xml version="1.0" encoding="utf-8"?>
<p:tagLst xmlns:p="http://schemas.openxmlformats.org/presentationml/2006/main">
  <p:tag name="KSO_WM_DIAGRAM_VIRTUALLY_FRAME" val="{&quot;height&quot;:357.7,&quot;left&quot;:540,&quot;top&quot;:108,&quot;width&quot;:374.4}"/>
</p:tagLst>
</file>

<file path=ppt/tags/tag6.xml><?xml version="1.0" encoding="utf-8"?>
<p:tagLst xmlns:p="http://schemas.openxmlformats.org/presentationml/2006/main">
  <p:tag name="KSO_WM_DIAGRAM_VIRTUALLY_FRAME" val="{&quot;height&quot;:357.7,&quot;left&quot;:540,&quot;top&quot;:108,&quot;width&quot;:374.4}"/>
</p:tagLst>
</file>

<file path=ppt/tags/tag7.xml><?xml version="1.0" encoding="utf-8"?>
<p:tagLst xmlns:p="http://schemas.openxmlformats.org/presentationml/2006/main">
  <p:tag name="KSO_WM_DIAGRAM_VIRTUALLY_FRAME" val="{&quot;height&quot;:357.7,&quot;left&quot;:540,&quot;top&quot;:108,&quot;width&quot;:374.4}"/>
</p:tagLst>
</file>

<file path=ppt/tags/tag8.xml><?xml version="1.0" encoding="utf-8"?>
<p:tagLst xmlns:p="http://schemas.openxmlformats.org/presentationml/2006/main">
  <p:tag name="KSO_WM_DIAGRAM_VIRTUALLY_FRAME" val="{&quot;height&quot;:357.7,&quot;left&quot;:540,&quot;top&quot;:108,&quot;width&quot;:374.4}"/>
</p:tagLst>
</file>

<file path=ppt/tags/tag9.xml><?xml version="1.0" encoding="utf-8"?>
<p:tagLst xmlns:p="http://schemas.openxmlformats.org/presentationml/2006/main">
  <p:tag name="KSO_WM_DIAGRAM_VIRTUALLY_FRAME" val="{&quot;height&quot;:357.7,&quot;left&quot;:540,&quot;top&quot;:108,&quot;width&quot;:374.4}"/>
</p:tagLst>
</file>

<file path=ppt/tags/tag10.xml><?xml version="1.0" encoding="utf-8"?>
<p:tagLst xmlns:p="http://schemas.openxmlformats.org/presentationml/2006/main">
  <p:tag name="KSO_WM_DIAGRAM_VIRTUALLY_FRAME" val="{&quot;height&quot;:302.4,&quot;left&quot;:36,&quot;top&quot;:108,&quot;width&quot;:525.6}"/>
</p:tagLst>
</file>

<file path=ppt/tags/tag11.xml><?xml version="1.0" encoding="utf-8"?>
<p:tagLst xmlns:p="http://schemas.openxmlformats.org/presentationml/2006/main">
  <p:tag name="KSO_WM_DIAGRAM_VIRTUALLY_FRAME" val="{&quot;height&quot;:302.4,&quot;left&quot;:36,&quot;top&quot;:108,&quot;width&quot;:525.6}"/>
</p:tagLst>
</file>

<file path=ppt/tags/tag12.xml><?xml version="1.0" encoding="utf-8"?>
<p:tagLst xmlns:p="http://schemas.openxmlformats.org/presentationml/2006/main">
  <p:tag name="KSO_WM_DIAGRAM_VIRTUALLY_FRAME" val="{&quot;height&quot;:302.4,&quot;left&quot;:36,&quot;top&quot;:108,&quot;width&quot;:525.6}"/>
</p:tagLst>
</file>

<file path=ppt/tags/tag13.xml><?xml version="1.0" encoding="utf-8"?>
<p:tagLst xmlns:p="http://schemas.openxmlformats.org/presentationml/2006/main">
  <p:tag name="KSO_WM_DIAGRAM_VIRTUALLY_FRAME" val="{&quot;height&quot;:302.4,&quot;left&quot;:36,&quot;top&quot;:108,&quot;width&quot;:525.6}"/>
</p:tagLst>
</file>

<file path=ppt/tags/tag14.xml><?xml version="1.0" encoding="utf-8"?>
<p:tagLst xmlns:p="http://schemas.openxmlformats.org/presentationml/2006/main">
  <p:tag name="KSO_WM_DIAGRAM_VIRTUALLY_FRAME" val="{&quot;height&quot;:302.4,&quot;left&quot;:36,&quot;top&quot;:108,&quot;width&quot;:525.6}"/>
</p:tagLst>
</file>

<file path=ppt/tags/tag15.xml><?xml version="1.0" encoding="utf-8"?>
<p:tagLst xmlns:p="http://schemas.openxmlformats.org/presentationml/2006/main">
  <p:tag name="KSO_WM_DIAGRAM_VIRTUALLY_FRAME" val="{&quot;height&quot;:302.4,&quot;left&quot;:36,&quot;top&quot;:108,&quot;width&quot;:525.6}"/>
</p:tagLst>
</file>

<file path=ppt/tags/tag16.xml><?xml version="1.0" encoding="utf-8"?>
<p:tagLst xmlns:p="http://schemas.openxmlformats.org/presentationml/2006/main">
  <p:tag name="KSO_WM_DIAGRAM_VIRTUALLY_FRAME" val="{&quot;height&quot;:302.4,&quot;left&quot;:36,&quot;top&quot;:108,&quot;width&quot;:525.6}"/>
</p:tagLst>
</file>

<file path=ppt/tags/tag17.xml><?xml version="1.0" encoding="utf-8"?>
<p:tagLst xmlns:p="http://schemas.openxmlformats.org/presentationml/2006/main">
  <p:tag name="KSO_WM_DIAGRAM_VIRTUALLY_FRAME" val="{&quot;height&quot;:302.4,&quot;left&quot;:36,&quot;top&quot;:108,&quot;width&quot;:525.6}"/>
</p:tagLst>
</file>

<file path=ppt/tags/tag18.xml><?xml version="1.0" encoding="utf-8"?>
<p:tagLst xmlns:p="http://schemas.openxmlformats.org/presentationml/2006/main">
  <p:tag name="KSO_WM_DIAGRAM_VIRTUALLY_FRAME" val="{&quot;height&quot;:302.4,&quot;left&quot;:36,&quot;top&quot;:108,&quot;width&quot;:525.6}"/>
</p:tagLst>
</file>

<file path=ppt/tags/tag19.xml><?xml version="1.0" encoding="utf-8"?>
<p:tagLst xmlns:p="http://schemas.openxmlformats.org/presentationml/2006/main">
  <p:tag name="KSO_WM_DIAGRAM_VIRTUALLY_FRAME" val="{&quot;height&quot;:302.4,&quot;left&quot;:36,&quot;top&quot;:108,&quot;width&quot;:525.6}"/>
</p:tagLst>
</file>

<file path=ppt/tags/tag20.xml><?xml version="1.0" encoding="utf-8"?>
<p:tagLst xmlns:p="http://schemas.openxmlformats.org/presentationml/2006/main">
  <p:tag name="KSO_WM_DIAGRAM_VIRTUALLY_FRAME" val="{&quot;height&quot;:302.4,&quot;left&quot;:36,&quot;top&quot;:108,&quot;width&quot;:525.6}"/>
</p:tagLst>
</file>

<file path=ppt/tags/tag21.xml><?xml version="1.0" encoding="utf-8"?>
<p:tagLst xmlns:p="http://schemas.openxmlformats.org/presentationml/2006/main">
  <p:tag name="KSO_WM_DIAGRAM_VIRTUALLY_FRAME" val="{&quot;height&quot;:302.4,&quot;left&quot;:36,&quot;top&quot;:108,&quot;width&quot;:525.6}"/>
</p:tagLst>
</file>

<file path=ppt/tags/tag22.xml><?xml version="1.0" encoding="utf-8"?>
<p:tagLst xmlns:p="http://schemas.openxmlformats.org/presentationml/2006/main">
  <p:tag name="KSO_WM_DIAGRAM_VIRTUALLY_FRAME" val="{&quot;height&quot;:324,&quot;left&quot;:36,&quot;top&quot;:108,&quot;width&quot;:907.2}"/>
</p:tagLst>
</file>

<file path=ppt/tags/tag23.xml><?xml version="1.0" encoding="utf-8"?>
<p:tagLst xmlns:p="http://schemas.openxmlformats.org/presentationml/2006/main">
  <p:tag name="KSO_WM_DIAGRAM_VIRTUALLY_FRAME" val="{&quot;height&quot;:324,&quot;left&quot;:36,&quot;top&quot;:108,&quot;width&quot;:907.2}"/>
</p:tagLst>
</file>

<file path=ppt/tags/tag24.xml><?xml version="1.0" encoding="utf-8"?>
<p:tagLst xmlns:p="http://schemas.openxmlformats.org/presentationml/2006/main">
  <p:tag name="KSO_WM_DIAGRAM_VIRTUALLY_FRAME" val="{&quot;height&quot;:324,&quot;left&quot;:36,&quot;top&quot;:108,&quot;width&quot;:907.2}"/>
</p:tagLst>
</file>

<file path=ppt/tags/tag25.xml><?xml version="1.0" encoding="utf-8"?>
<p:tagLst xmlns:p="http://schemas.openxmlformats.org/presentationml/2006/main">
  <p:tag name="KSO_WM_DIAGRAM_VIRTUALLY_FRAME" val="{&quot;height&quot;:324,&quot;left&quot;:36,&quot;top&quot;:108,&quot;width&quot;:907.2}"/>
</p:tagLst>
</file>

<file path=ppt/tags/tag26.xml><?xml version="1.0" encoding="utf-8"?>
<p:tagLst xmlns:p="http://schemas.openxmlformats.org/presentationml/2006/main">
  <p:tag name="KSO_WM_DIAGRAM_VIRTUALLY_FRAME" val="{&quot;height&quot;:324,&quot;left&quot;:36,&quot;top&quot;:108,&quot;width&quot;:907.2}"/>
</p:tagLst>
</file>

<file path=ppt/tags/tag27.xml><?xml version="1.0" encoding="utf-8"?>
<p:tagLst xmlns:p="http://schemas.openxmlformats.org/presentationml/2006/main">
  <p:tag name="KSO_WM_DIAGRAM_VIRTUALLY_FRAME" val="{&quot;height&quot;:324,&quot;left&quot;:36,&quot;top&quot;:108,&quot;width&quot;:907.2}"/>
</p:tagLst>
</file>

<file path=ppt/tags/tag28.xml><?xml version="1.0" encoding="utf-8"?>
<p:tagLst xmlns:p="http://schemas.openxmlformats.org/presentationml/2006/main">
  <p:tag name="KSO_WM_DIAGRAM_VIRTUALLY_FRAME" val="{&quot;height&quot;:324,&quot;left&quot;:36,&quot;top&quot;:108,&quot;width&quot;:907.2}"/>
</p:tagLst>
</file>

<file path=ppt/tags/tag29.xml><?xml version="1.0" encoding="utf-8"?>
<p:tagLst xmlns:p="http://schemas.openxmlformats.org/presentationml/2006/main">
  <p:tag name="KSO_WM_DIAGRAM_VIRTUALLY_FRAME" val="{&quot;height&quot;:324,&quot;left&quot;:36,&quot;top&quot;:108,&quot;width&quot;:907.2}"/>
</p:tagLst>
</file>

<file path=ppt/tags/tag30.xml><?xml version="1.0" encoding="utf-8"?>
<p:tagLst xmlns:p="http://schemas.openxmlformats.org/presentationml/2006/main">
  <p:tag name="KSO_WM_DIAGRAM_VIRTUALLY_FRAME" val="{&quot;height&quot;:324,&quot;left&quot;:36,&quot;top&quot;:108,&quot;width&quot;:907.2}"/>
</p:tagLst>
</file>

<file path=ppt/tags/tag31.xml><?xml version="1.0" encoding="utf-8"?>
<p:tagLst xmlns:p="http://schemas.openxmlformats.org/presentationml/2006/main">
  <p:tag name="KSO_WM_DIAGRAM_VIRTUALLY_FRAME" val="{&quot;height&quot;:324,&quot;left&quot;:36,&quot;top&quot;:108,&quot;width&quot;:907.2}"/>
</p:tagLst>
</file>

<file path=ppt/tags/tag32.xml><?xml version="1.0" encoding="utf-8"?>
<p:tagLst xmlns:p="http://schemas.openxmlformats.org/presentationml/2006/main">
  <p:tag name="KSO_WM_DIAGRAM_VIRTUALLY_FRAME" val="{&quot;height&quot;:324,&quot;left&quot;:36,&quot;top&quot;:108,&quot;width&quot;:907.2}"/>
</p:tagLst>
</file>

<file path=ppt/tags/tag33.xml><?xml version="1.0" encoding="utf-8"?>
<p:tagLst xmlns:p="http://schemas.openxmlformats.org/presentationml/2006/main">
  <p:tag name="KSO_WM_DIAGRAM_VIRTUALLY_FRAME" val="{&quot;height&quot;:324,&quot;left&quot;:36,&quot;top&quot;:108,&quot;width&quot;:907.2}"/>
</p:tagLst>
</file>

<file path=ppt/tags/tag34.xml><?xml version="1.0" encoding="utf-8"?>
<p:tagLst xmlns:p="http://schemas.openxmlformats.org/presentationml/2006/main">
  <p:tag name="KSO_WM_DIAGRAM_VIRTUALLY_FRAME" val="{&quot;height&quot;:360,&quot;left&quot;:36,&quot;top&quot;:108,&quot;width&quot;:885.6}"/>
</p:tagLst>
</file>

<file path=ppt/tags/tag35.xml><?xml version="1.0" encoding="utf-8"?>
<p:tagLst xmlns:p="http://schemas.openxmlformats.org/presentationml/2006/main">
  <p:tag name="KSO_WM_DIAGRAM_VIRTUALLY_FRAME" val="{&quot;height&quot;:360,&quot;left&quot;:36,&quot;top&quot;:108,&quot;width&quot;:885.6}"/>
</p:tagLst>
</file>

<file path=ppt/tags/tag36.xml><?xml version="1.0" encoding="utf-8"?>
<p:tagLst xmlns:p="http://schemas.openxmlformats.org/presentationml/2006/main">
  <p:tag name="KSO_WM_DIAGRAM_VIRTUALLY_FRAME" val="{&quot;height&quot;:360,&quot;left&quot;:36,&quot;top&quot;:108,&quot;width&quot;:885.6}"/>
</p:tagLst>
</file>

<file path=ppt/tags/tag37.xml><?xml version="1.0" encoding="utf-8"?>
<p:tagLst xmlns:p="http://schemas.openxmlformats.org/presentationml/2006/main">
  <p:tag name="KSO_WM_DIAGRAM_VIRTUALLY_FRAME" val="{&quot;height&quot;:360,&quot;left&quot;:36,&quot;top&quot;:108,&quot;width&quot;:885.6}"/>
</p:tagLst>
</file>

<file path=ppt/tags/tag38.xml><?xml version="1.0" encoding="utf-8"?>
<p:tagLst xmlns:p="http://schemas.openxmlformats.org/presentationml/2006/main">
  <p:tag name="KSO_WM_DIAGRAM_VIRTUALLY_FRAME" val="{&quot;height&quot;:360,&quot;left&quot;:36,&quot;top&quot;:108,&quot;width&quot;:885.6}"/>
</p:tagLst>
</file>

<file path=ppt/tags/tag39.xml><?xml version="1.0" encoding="utf-8"?>
<p:tagLst xmlns:p="http://schemas.openxmlformats.org/presentationml/2006/main">
  <p:tag name="KSO_WM_DIAGRAM_VIRTUALLY_FRAME" val="{&quot;height&quot;:360,&quot;left&quot;:36,&quot;top&quot;:108,&quot;width&quot;:885.6}"/>
</p:tagLst>
</file>

<file path=ppt/tags/tag40.xml><?xml version="1.0" encoding="utf-8"?>
<p:tagLst xmlns:p="http://schemas.openxmlformats.org/presentationml/2006/main">
  <p:tag name="KSO_WM_DIAGRAM_VIRTUALLY_FRAME" val="{&quot;height&quot;:360,&quot;left&quot;:36,&quot;top&quot;:108,&quot;width&quot;:885.6}"/>
</p:tagLst>
</file>

<file path=ppt/tags/tag41.xml><?xml version="1.0" encoding="utf-8"?>
<p:tagLst xmlns:p="http://schemas.openxmlformats.org/presentationml/2006/main">
  <p:tag name="KSO_WM_DIAGRAM_VIRTUALLY_FRAME" val="{&quot;height&quot;:360,&quot;left&quot;:36,&quot;top&quot;:108,&quot;width&quot;:885.6}"/>
</p:tagLst>
</file>

<file path=ppt/tags/tag42.xml><?xml version="1.0" encoding="utf-8"?>
<p:tagLst xmlns:p="http://schemas.openxmlformats.org/presentationml/2006/main">
  <p:tag name="KSO_WM_DIAGRAM_VIRTUALLY_FRAME" val="{&quot;height&quot;:360,&quot;left&quot;:36,&quot;top&quot;:108,&quot;width&quot;:885.6}"/>
</p:tagLst>
</file>

<file path=ppt/tags/tag43.xml><?xml version="1.0" encoding="utf-8"?>
<p:tagLst xmlns:p="http://schemas.openxmlformats.org/presentationml/2006/main">
  <p:tag name="KSO_WM_DIAGRAM_VIRTUALLY_FRAME" val="{&quot;height&quot;:360,&quot;left&quot;:36,&quot;top&quot;:108,&quot;width&quot;:885.6}"/>
</p:tagLst>
</file>

<file path=ppt/tags/tag44.xml><?xml version="1.0" encoding="utf-8"?>
<p:tagLst xmlns:p="http://schemas.openxmlformats.org/presentationml/2006/main">
  <p:tag name="KSO_WM_DIAGRAM_VIRTUALLY_FRAME" val="{&quot;height&quot;:360,&quot;left&quot;:36,&quot;top&quot;:108,&quot;width&quot;:885.6}"/>
</p:tagLst>
</file>

<file path=ppt/tags/tag45.xml><?xml version="1.0" encoding="utf-8"?>
<p:tagLst xmlns:p="http://schemas.openxmlformats.org/presentationml/2006/main">
  <p:tag name="KSO_WM_DIAGRAM_VIRTUALLY_FRAME" val="{&quot;height&quot;:360,&quot;left&quot;:36,&quot;top&quot;:108,&quot;width&quot;:885.6}"/>
</p:tagLst>
</file>

<file path=ppt/tags/tag46.xml><?xml version="1.0" encoding="utf-8"?>
<p:tagLst xmlns:p="http://schemas.openxmlformats.org/presentationml/2006/main">
  <p:tag name="KSO_WM_DIAGRAM_VIRTUALLY_FRAME" val="{&quot;height&quot;:360,&quot;left&quot;:36,&quot;top&quot;:108,&quot;width&quot;:885.6}"/>
</p:tagLst>
</file>

<file path=ppt/tags/tag47.xml><?xml version="1.0" encoding="utf-8"?>
<p:tagLst xmlns:p="http://schemas.openxmlformats.org/presentationml/2006/main">
  <p:tag name="KSO_WM_DIAGRAM_VIRTUALLY_FRAME" val="{&quot;height&quot;:360,&quot;left&quot;:36,&quot;top&quot;:108,&quot;width&quot;:885.6}"/>
</p:tagLst>
</file>

<file path=ppt/tags/tag48.xml><?xml version="1.0" encoding="utf-8"?>
<p:tagLst xmlns:p="http://schemas.openxmlformats.org/presentationml/2006/main">
  <p:tag name="KSO_WM_DIAGRAM_VIRTUALLY_FRAME" val="{&quot;height&quot;:360,&quot;left&quot;:36,&quot;top&quot;:108,&quot;width&quot;:885.6}"/>
</p:tagLst>
</file>

<file path=ppt/tags/tag49.xml><?xml version="1.0" encoding="utf-8"?>
<p:tagLst xmlns:p="http://schemas.openxmlformats.org/presentationml/2006/main">
  <p:tag name="KSO_WM_DIAGRAM_VIRTUALLY_FRAME" val="{&quot;height&quot;:360,&quot;left&quot;:36,&quot;top&quot;:108,&quot;width&quot;:885.6}"/>
</p:tagLst>
</file>

<file path=ppt/tags/tag50.xml><?xml version="1.0" encoding="utf-8"?>
<p:tagLst xmlns:p="http://schemas.openxmlformats.org/presentationml/2006/main">
  <p:tag name="KSO_WM_DIAGRAM_VIRTUALLY_FRAME" val="{&quot;height&quot;:320.4,&quot;left&quot;:57.6,&quot;top&quot;:104.4,&quot;width&quot;:842.4}"/>
</p:tagLst>
</file>

<file path=ppt/tags/tag51.xml><?xml version="1.0" encoding="utf-8"?>
<p:tagLst xmlns:p="http://schemas.openxmlformats.org/presentationml/2006/main">
  <p:tag name="KSO_WM_DIAGRAM_VIRTUALLY_FRAME" val="{&quot;height&quot;:320.4,&quot;left&quot;:57.6,&quot;top&quot;:104.4,&quot;width&quot;:842.4}"/>
</p:tagLst>
</file>

<file path=ppt/tags/tag52.xml><?xml version="1.0" encoding="utf-8"?>
<p:tagLst xmlns:p="http://schemas.openxmlformats.org/presentationml/2006/main">
  <p:tag name="KSO_WM_DIAGRAM_VIRTUALLY_FRAME" val="{&quot;height&quot;:320.4,&quot;left&quot;:57.6,&quot;top&quot;:104.4,&quot;width&quot;:842.4}"/>
</p:tagLst>
</file>

<file path=ppt/tags/tag53.xml><?xml version="1.0" encoding="utf-8"?>
<p:tagLst xmlns:p="http://schemas.openxmlformats.org/presentationml/2006/main">
  <p:tag name="KSO_WM_DIAGRAM_VIRTUALLY_FRAME" val="{&quot;height&quot;:320.4,&quot;left&quot;:57.6,&quot;top&quot;:104.4,&quot;width&quot;:842.4}"/>
</p:tagLst>
</file>

<file path=ppt/tags/tag54.xml><?xml version="1.0" encoding="utf-8"?>
<p:tagLst xmlns:p="http://schemas.openxmlformats.org/presentationml/2006/main">
  <p:tag name="KSO_WM_DIAGRAM_VIRTUALLY_FRAME" val="{&quot;height&quot;:320.4,&quot;left&quot;:57.6,&quot;top&quot;:104.4,&quot;width&quot;:842.4}"/>
</p:tagLst>
</file>

<file path=ppt/tags/tag55.xml><?xml version="1.0" encoding="utf-8"?>
<p:tagLst xmlns:p="http://schemas.openxmlformats.org/presentationml/2006/main">
  <p:tag name="KSO_WM_DIAGRAM_VIRTUALLY_FRAME" val="{&quot;height&quot;:320.4,&quot;left&quot;:57.6,&quot;top&quot;:104.4,&quot;width&quot;:842.4}"/>
</p:tagLst>
</file>

<file path=ppt/tags/tag56.xml><?xml version="1.0" encoding="utf-8"?>
<p:tagLst xmlns:p="http://schemas.openxmlformats.org/presentationml/2006/main">
  <p:tag name="KSO_WM_DIAGRAM_VIRTUALLY_FRAME" val="{&quot;height&quot;:320.4,&quot;left&quot;:57.6,&quot;top&quot;:104.4,&quot;width&quot;:842.4}"/>
</p:tagLst>
</file>

<file path=ppt/tags/tag57.xml><?xml version="1.0" encoding="utf-8"?>
<p:tagLst xmlns:p="http://schemas.openxmlformats.org/presentationml/2006/main">
  <p:tag name="KSO_WM_DIAGRAM_VIRTUALLY_FRAME" val="{&quot;height&quot;:320.4,&quot;left&quot;:57.6,&quot;top&quot;:104.4,&quot;width&quot;:842.4}"/>
</p:tagLst>
</file>

<file path=ppt/tags/tag58.xml><?xml version="1.0" encoding="utf-8"?>
<p:tagLst xmlns:p="http://schemas.openxmlformats.org/presentationml/2006/main">
  <p:tag name="KSO_WM_DIAGRAM_VIRTUALLY_FRAME" val="{&quot;height&quot;:320.4,&quot;left&quot;:57.6,&quot;top&quot;:104.4,&quot;width&quot;:842.4}"/>
</p:tagLst>
</file>

<file path=ppt/tags/tag59.xml><?xml version="1.0" encoding="utf-8"?>
<p:tagLst xmlns:p="http://schemas.openxmlformats.org/presentationml/2006/main">
  <p:tag name="KSO_WM_DIAGRAM_VIRTUALLY_FRAME" val="{&quot;height&quot;:320.4,&quot;left&quot;:57.6,&quot;top&quot;:104.4,&quot;width&quot;:842.4}"/>
</p:tagLst>
</file>

<file path=ppt/tags/tag60.xml><?xml version="1.0" encoding="utf-8"?>
<p:tagLst xmlns:p="http://schemas.openxmlformats.org/presentationml/2006/main">
  <p:tag name="KSO_WM_DIAGRAM_VIRTUALLY_FRAME" val="{&quot;height&quot;:320.4,&quot;left&quot;:57.6,&quot;top&quot;:104.4,&quot;width&quot;:842.4}"/>
</p:tagLst>
</file>

<file path=ppt/tags/tag61.xml><?xml version="1.0" encoding="utf-8"?>
<p:tagLst xmlns:p="http://schemas.openxmlformats.org/presentationml/2006/main">
  <p:tag name="KSO_WM_DIAGRAM_VIRTUALLY_FRAME" val="{&quot;height&quot;:320.4,&quot;left&quot;:57.6,&quot;top&quot;:104.4,&quot;width&quot;:842.4}"/>
</p:tagLst>
</file>

<file path=ppt/tags/tag62.xml><?xml version="1.0" encoding="utf-8"?>
<p:tagLst xmlns:p="http://schemas.openxmlformats.org/presentationml/2006/main">
  <p:tag name="KSO_WM_DIAGRAM_VIRTUALLY_FRAME" val="{&quot;height&quot;:320.4,&quot;left&quot;:57.6,&quot;top&quot;:104.4,&quot;width&quot;:842.4}"/>
</p:tagLst>
</file>

<file path=ppt/tags/tag63.xml><?xml version="1.0" encoding="utf-8"?>
<p:tagLst xmlns:p="http://schemas.openxmlformats.org/presentationml/2006/main">
  <p:tag name="KSO_WM_DIAGRAM_VIRTUALLY_FRAME" val="{&quot;height&quot;:320.4,&quot;left&quot;:57.6,&quot;top&quot;:104.4,&quot;width&quot;:842.4}"/>
</p:tagLst>
</file>

<file path=ppt/tags/tag64.xml><?xml version="1.0" encoding="utf-8"?>
<p:tagLst xmlns:p="http://schemas.openxmlformats.org/presentationml/2006/main">
  <p:tag name="KSO_WM_DIAGRAM_VIRTUALLY_FRAME" val="{&quot;height&quot;:320.4,&quot;left&quot;:57.6,&quot;top&quot;:104.4,&quot;width&quot;:842.4}"/>
</p:tagLst>
</file>

<file path=ppt/tags/tag65.xml><?xml version="1.0" encoding="utf-8"?>
<p:tagLst xmlns:p="http://schemas.openxmlformats.org/presentationml/2006/main">
  <p:tag name="KSO_WM_DIAGRAM_VIRTUALLY_FRAME" val="{&quot;height&quot;:320.4,&quot;left&quot;:57.6,&quot;top&quot;:104.4,&quot;width&quot;:842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1837</Words>
  <Application>WPS 演示</Application>
  <PresentationFormat>On-screen Show (4:3)</PresentationFormat>
  <Paragraphs>247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北幽</cp:lastModifiedBy>
  <cp:revision>3</cp:revision>
  <dcterms:created xsi:type="dcterms:W3CDTF">2013-01-27T09:14:00Z</dcterms:created>
  <dcterms:modified xsi:type="dcterms:W3CDTF">2026-05-10T09:39:02Z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9EC50FE3C3D8463EB449550FCC6F58AB_12</vt:lpwstr>
  </property>
  <property fmtid="{D5CDD505-2E9C-101B-9397-08002B2CF9AE}" pid="3" name="KSOProductBuildVer">
    <vt:lpwstr>2052-12.1.0.25865</vt:lpwstr>
  </property>
</Properties>
</file>